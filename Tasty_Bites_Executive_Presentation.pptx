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94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3200400"/>
          </a:xfrm>
          <a:prstGeom prst="rect">
            <a:avLst/>
          </a:prstGeom>
          <a:noFill/>
        </p:spPr>
        <p:txBody>
          <a:bodyPr wrap="square">
            <a:spAutoFit/>
          </a:bodyPr>
          <a:lstStyle/>
          <a:p>
            <a:pPr>
              <a:defRPr sz="1400" b="1">
                <a:solidFill>
                  <a:srgbClr val="D97706"/>
                </a:solidFill>
              </a:defRPr>
            </a:pPr>
            <a:r>
              <a:t>TASTY BITES RESTAURANT</a:t>
            </a:r>
          </a:p>
          <a:p>
            <a:pPr>
              <a:spcBef>
                <a:spcPts val="1000"/>
              </a:spcBef>
              <a:defRPr sz="3600" b="1">
                <a:solidFill>
                  <a:srgbClr val="FFFFFF"/>
                </a:solidFill>
              </a:defRPr>
            </a:pPr>
            <a:r>
              <a:t>Optimizing Revenue &amp; Customer Retention</a:t>
            </a:r>
          </a:p>
          <a:p>
            <a:pPr>
              <a:spcBef>
                <a:spcPts val="1000"/>
              </a:spcBef>
              <a:defRPr sz="1800">
                <a:solidFill>
                  <a:srgbClr val="94A3B8"/>
                </a:solidFill>
              </a:defRPr>
            </a:pPr>
            <a:r>
              <a:t>Data-Driven Operational Insights &amp; 90-Day Growth Strategy</a:t>
            </a:r>
          </a:p>
          <a:p>
            <a:pPr>
              <a:spcBef>
                <a:spcPts val="4000"/>
              </a:spcBef>
              <a:defRPr sz="1200">
                <a:solidFill>
                  <a:srgbClr val="D97706"/>
                </a:solidFill>
              </a:defRPr>
            </a:pPr>
            <a:r>
              <a:t>Prepared for Restaurant Owners | Data Analysis Presentation | Accra, Ghana</a:t>
            </a: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D97706"/>
                </a:solidFill>
              </a:defRPr>
            </a:pPr>
            <a:r>
              <a:t>TASTY BITES BUSINESS INTELLIGENCE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Executive Summary: 6-Month Business Performance &amp; Data Architecture</a:t>
            </a:r>
          </a:p>
        </p:txBody>
      </p:sp>
      <p:sp>
        <p:nvSpPr>
          <p:cNvPr id="4" name="Rounded Rectangle 3"/>
          <p:cNvSpPr/>
          <p:nvPr/>
        </p:nvSpPr>
        <p:spPr>
          <a:xfrm>
            <a:off x="731520" y="1463040"/>
            <a:ext cx="5120640" cy="47548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F172A"/>
                </a:solidFill>
              </a:defRPr>
            </a:pPr>
            <a:r>
              <a:t>DATA PIPELINE &amp; BUSINESS CONTEXT</a:t>
            </a:r>
          </a:p>
          <a:p>
            <a:pPr>
              <a:spcBef>
                <a:spcPts val="1200"/>
              </a:spcBef>
              <a:defRPr sz="1100">
                <a:solidFill>
                  <a:srgbClr val="475569"/>
                </a:solidFill>
              </a:defRPr>
            </a:pPr>
            <a:r>
              <a:t>• Context: Evaluated 250 daily transaction logs in Accra to solve fluctuating customer traffic and revenue inconsistency.</a:t>
            </a:r>
          </a:p>
          <a:p>
            <a:pPr>
              <a:spcBef>
                <a:spcPts val="1200"/>
              </a:spcBef>
              <a:defRPr sz="1100">
                <a:solidFill>
                  <a:srgbClr val="475569"/>
                </a:solidFill>
              </a:defRPr>
            </a:pPr>
            <a:r>
              <a:t>• Database Infrastructure: Centralized sales, feedback, and operational data into a relational MySQL database (tasty_bites_db).</a:t>
            </a:r>
          </a:p>
          <a:p>
            <a:pPr>
              <a:spcBef>
                <a:spcPts val="1200"/>
              </a:spcBef>
              <a:defRPr sz="1100">
                <a:solidFill>
                  <a:srgbClr val="475569"/>
                </a:solidFill>
              </a:defRPr>
            </a:pPr>
            <a:r>
              <a:t>• Power BI Integration: Connected MySQL directly to Power BI for interactive dashboard modeling and real-time decision support.</a:t>
            </a:r>
          </a:p>
          <a:p>
            <a:pPr>
              <a:spcBef>
                <a:spcPts val="1200"/>
              </a:spcBef>
              <a:defRPr sz="1100">
                <a:solidFill>
                  <a:srgbClr val="475569"/>
                </a:solidFill>
              </a:defRPr>
            </a:pPr>
            <a:r>
              <a:t>• Core Finding: Weekend demand is at maximum capacity, but weekday lulls (33% revenue drop) present significant uncaptured sales.</a:t>
            </a:r>
          </a:p>
        </p:txBody>
      </p:sp>
      <p:sp>
        <p:nvSpPr>
          <p:cNvPr id="5" name="Rounded Rectangle 4"/>
          <p:cNvSpPr/>
          <p:nvPr/>
        </p:nvSpPr>
        <p:spPr>
          <a:xfrm>
            <a:off x="6126480" y="1463040"/>
            <a:ext cx="2560320" cy="2194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D97706"/>
                </a:solidFill>
              </a:defRPr>
            </a:pPr>
            <a:r>
              <a:t>TOTAL REVENUE</a:t>
            </a:r>
          </a:p>
          <a:p>
            <a:pPr>
              <a:spcBef>
                <a:spcPts val="800"/>
              </a:spcBef>
              <a:defRPr sz="2000" b="1">
                <a:solidFill>
                  <a:srgbClr val="FFFFFF"/>
                </a:solidFill>
              </a:defRPr>
            </a:pPr>
            <a:r>
              <a:t>GH₵ 1,353,300</a:t>
            </a:r>
          </a:p>
          <a:p>
            <a:pPr>
              <a:spcBef>
                <a:spcPts val="800"/>
              </a:spcBef>
              <a:defRPr sz="900">
                <a:solidFill>
                  <a:srgbClr val="94A3B8"/>
                </a:solidFill>
              </a:defRPr>
            </a:pPr>
            <a:r>
              <a:t>Generated across 250 operational days</a:t>
            </a:r>
          </a:p>
        </p:txBody>
      </p:sp>
      <p:sp>
        <p:nvSpPr>
          <p:cNvPr id="6" name="Rounded Rectangle 5"/>
          <p:cNvSpPr/>
          <p:nvPr/>
        </p:nvSpPr>
        <p:spPr>
          <a:xfrm>
            <a:off x="8961120" y="1463040"/>
            <a:ext cx="2560320" cy="2194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D97706"/>
                </a:solidFill>
              </a:defRPr>
            </a:pPr>
            <a:r>
              <a:t>TOTAL CUSTOMERS</a:t>
            </a:r>
          </a:p>
          <a:p>
            <a:pPr>
              <a:spcBef>
                <a:spcPts val="800"/>
              </a:spcBef>
              <a:defRPr sz="2000" b="1">
                <a:solidFill>
                  <a:srgbClr val="FFFFFF"/>
                </a:solidFill>
              </a:defRPr>
            </a:pPr>
            <a:r>
              <a:t>33,369</a:t>
            </a:r>
          </a:p>
          <a:p>
            <a:pPr>
              <a:spcBef>
                <a:spcPts val="800"/>
              </a:spcBef>
              <a:defRPr sz="900">
                <a:solidFill>
                  <a:srgbClr val="94A3B8"/>
                </a:solidFill>
              </a:defRPr>
            </a:pPr>
            <a:r>
              <a:t>Average 133 daily restaurant visits</a:t>
            </a:r>
          </a:p>
        </p:txBody>
      </p:sp>
      <p:sp>
        <p:nvSpPr>
          <p:cNvPr id="7" name="Rounded Rectangle 6"/>
          <p:cNvSpPr/>
          <p:nvPr/>
        </p:nvSpPr>
        <p:spPr>
          <a:xfrm>
            <a:off x="6126480" y="3840480"/>
            <a:ext cx="2560320" cy="2194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D97706"/>
                </a:solidFill>
              </a:defRPr>
            </a:pPr>
            <a:r>
              <a:t>AVG SPEND / CUSTOMER</a:t>
            </a:r>
          </a:p>
          <a:p>
            <a:pPr>
              <a:spcBef>
                <a:spcPts val="800"/>
              </a:spcBef>
              <a:defRPr sz="2000" b="1">
                <a:solidFill>
                  <a:srgbClr val="FFFFFF"/>
                </a:solidFill>
              </a:defRPr>
            </a:pPr>
            <a:r>
              <a:t>GH₵ 40.82</a:t>
            </a:r>
          </a:p>
          <a:p>
            <a:pPr>
              <a:spcBef>
                <a:spcPts val="800"/>
              </a:spcBef>
              <a:defRPr sz="900">
                <a:solidFill>
                  <a:srgbClr val="94A3B8"/>
                </a:solidFill>
              </a:defRPr>
            </a:pPr>
            <a:r>
              <a:t>Per customer transaction average</a:t>
            </a:r>
          </a:p>
        </p:txBody>
      </p:sp>
      <p:sp>
        <p:nvSpPr>
          <p:cNvPr id="8" name="Rounded Rectangle 7"/>
          <p:cNvSpPr/>
          <p:nvPr/>
        </p:nvSpPr>
        <p:spPr>
          <a:xfrm>
            <a:off x="8961120" y="3840480"/>
            <a:ext cx="2560320" cy="2194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D97706"/>
                </a:solidFill>
              </a:defRPr>
            </a:pPr>
            <a:r>
              <a:t>SATISFACTION SCORE</a:t>
            </a:r>
          </a:p>
          <a:p>
            <a:pPr>
              <a:spcBef>
                <a:spcPts val="800"/>
              </a:spcBef>
              <a:defRPr sz="2000" b="1">
                <a:solidFill>
                  <a:srgbClr val="FFFFFF"/>
                </a:solidFill>
              </a:defRPr>
            </a:pPr>
            <a:r>
              <a:t>4.52 / 5.0</a:t>
            </a:r>
          </a:p>
          <a:p>
            <a:pPr>
              <a:spcBef>
                <a:spcPts val="800"/>
              </a:spcBef>
              <a:defRPr sz="900">
                <a:solidFill>
                  <a:srgbClr val="94A3B8"/>
                </a:solidFill>
              </a:defRPr>
            </a:pPr>
            <a:r>
              <a:t>Consistently high customer feedback</a:t>
            </a: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D97706"/>
                </a:solidFill>
              </a:defRPr>
            </a:pPr>
            <a:r>
              <a:t>TASTY BITES BUSINESS INTELLIGENCE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Weekly Demand Dynamics: Weekend Peaks vs. Mid-Week Lulls</a:t>
            </a:r>
          </a:p>
        </p:txBody>
      </p:sp>
      <p:graphicFrame>
        <p:nvGraphicFramePr>
          <p:cNvPr id="4" name="Table 3"/>
          <p:cNvGraphicFramePr>
            <a:graphicFrameLocks noGrp="1"/>
          </p:cNvGraphicFramePr>
          <p:nvPr/>
        </p:nvGraphicFramePr>
        <p:xfrm>
          <a:off x="731520" y="1463040"/>
          <a:ext cx="6217920" cy="475488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594360">
                <a:tc>
                  <a:txBody>
                    <a:bodyPr/>
                    <a:lstStyle/>
                    <a:p>
                      <a:pPr>
                        <a:defRPr sz="1000" b="1">
                          <a:solidFill>
                            <a:srgbClr val="FFFFFF"/>
                          </a:solidFill>
                        </a:defRPr>
                      </a:pPr>
                      <a:r>
                        <a:t>Day of Week</a:t>
                      </a:r>
                    </a:p>
                  </a:txBody>
                  <a:tcPr>
                    <a:solidFill>
                      <a:srgbClr val="0F172A"/>
                    </a:solidFill>
                  </a:tcPr>
                </a:tc>
                <a:tc>
                  <a:txBody>
                    <a:bodyPr/>
                    <a:lstStyle/>
                    <a:p>
                      <a:pPr>
                        <a:defRPr sz="1000" b="1">
                          <a:solidFill>
                            <a:srgbClr val="FFFFFF"/>
                          </a:solidFill>
                        </a:defRPr>
                      </a:pPr>
                      <a:r>
                        <a:t>Avg Daily Sales</a:t>
                      </a:r>
                    </a:p>
                  </a:txBody>
                  <a:tcPr>
                    <a:solidFill>
                      <a:srgbClr val="0F172A"/>
                    </a:solidFill>
                  </a:tcPr>
                </a:tc>
                <a:tc>
                  <a:txBody>
                    <a:bodyPr/>
                    <a:lstStyle/>
                    <a:p>
                      <a:pPr>
                        <a:defRPr sz="1000" b="1">
                          <a:solidFill>
                            <a:srgbClr val="FFFFFF"/>
                          </a:solidFill>
                        </a:defRPr>
                      </a:pPr>
                      <a:r>
                        <a:t>Avg Traffic</a:t>
                      </a:r>
                    </a:p>
                  </a:txBody>
                  <a:tcPr>
                    <a:solidFill>
                      <a:srgbClr val="0F172A"/>
                    </a:solidFill>
                  </a:tcPr>
                </a:tc>
                <a:tc>
                  <a:txBody>
                    <a:bodyPr/>
                    <a:lstStyle/>
                    <a:p>
                      <a:pPr>
                        <a:defRPr sz="1000" b="1">
                          <a:solidFill>
                            <a:srgbClr val="FFFFFF"/>
                          </a:solidFill>
                        </a:defRPr>
                      </a:pPr>
                      <a:r>
                        <a:t>Operational Status</a:t>
                      </a:r>
                    </a:p>
                  </a:txBody>
                  <a:tcPr>
                    <a:solidFill>
                      <a:srgbClr val="0F172A"/>
                    </a:solidFill>
                  </a:tcPr>
                </a:tc>
                <a:extLst>
                  <a:ext uri="{0D108BD9-81ED-4DB2-BD59-A6C34878D82A}">
                    <a16:rowId xmlns:a16="http://schemas.microsoft.com/office/drawing/2014/main" val="10000"/>
                  </a:ext>
                </a:extLst>
              </a:tr>
              <a:tr h="594360">
                <a:tc>
                  <a:txBody>
                    <a:bodyPr/>
                    <a:lstStyle/>
                    <a:p>
                      <a:pPr>
                        <a:defRPr sz="950" b="1">
                          <a:solidFill>
                            <a:srgbClr val="0F172A"/>
                          </a:solidFill>
                        </a:defRPr>
                      </a:pPr>
                      <a:r>
                        <a:t>Sunday</a:t>
                      </a:r>
                    </a:p>
                  </a:txBody>
                  <a:tcPr>
                    <a:solidFill>
                      <a:srgbClr val="F1F5F9"/>
                    </a:solidFill>
                  </a:tcPr>
                </a:tc>
                <a:tc>
                  <a:txBody>
                    <a:bodyPr/>
                    <a:lstStyle/>
                    <a:p>
                      <a:pPr>
                        <a:defRPr sz="950" b="1">
                          <a:solidFill>
                            <a:srgbClr val="0F172A"/>
                          </a:solidFill>
                        </a:defRPr>
                      </a:pPr>
                      <a:r>
                        <a:t>GH₵ 6,743</a:t>
                      </a:r>
                    </a:p>
                  </a:txBody>
                  <a:tcPr>
                    <a:solidFill>
                      <a:srgbClr val="F1F5F9"/>
                    </a:solidFill>
                  </a:tcPr>
                </a:tc>
                <a:tc>
                  <a:txBody>
                    <a:bodyPr/>
                    <a:lstStyle/>
                    <a:p>
                      <a:pPr>
                        <a:defRPr sz="950" b="1">
                          <a:solidFill>
                            <a:srgbClr val="0F172A"/>
                          </a:solidFill>
                        </a:defRPr>
                      </a:pPr>
                      <a:r>
                        <a:t>157 Customers</a:t>
                      </a:r>
                    </a:p>
                  </a:txBody>
                  <a:tcPr>
                    <a:solidFill>
                      <a:srgbClr val="F1F5F9"/>
                    </a:solidFill>
                  </a:tcPr>
                </a:tc>
                <a:tc>
                  <a:txBody>
                    <a:bodyPr/>
                    <a:lstStyle/>
                    <a:p>
                      <a:pPr>
                        <a:defRPr sz="950" b="1">
                          <a:solidFill>
                            <a:srgbClr val="0F172A"/>
                          </a:solidFill>
                        </a:defRPr>
                      </a:pPr>
                      <a:r>
                        <a:t>Peak Demand (Soup Surge)</a:t>
                      </a:r>
                    </a:p>
                  </a:txBody>
                  <a:tcPr>
                    <a:solidFill>
                      <a:srgbClr val="F1F5F9"/>
                    </a:solidFill>
                  </a:tcPr>
                </a:tc>
                <a:extLst>
                  <a:ext uri="{0D108BD9-81ED-4DB2-BD59-A6C34878D82A}">
                    <a16:rowId xmlns:a16="http://schemas.microsoft.com/office/drawing/2014/main" val="10001"/>
                  </a:ext>
                </a:extLst>
              </a:tr>
              <a:tr h="594360">
                <a:tc>
                  <a:txBody>
                    <a:bodyPr/>
                    <a:lstStyle/>
                    <a:p>
                      <a:pPr>
                        <a:defRPr sz="950">
                          <a:solidFill>
                            <a:srgbClr val="0F172A"/>
                          </a:solidFill>
                        </a:defRPr>
                      </a:pPr>
                      <a:r>
                        <a:t>Saturday</a:t>
                      </a:r>
                    </a:p>
                  </a:txBody>
                  <a:tcPr>
                    <a:solidFill>
                      <a:srgbClr val="FFFFFF"/>
                    </a:solidFill>
                  </a:tcPr>
                </a:tc>
                <a:tc>
                  <a:txBody>
                    <a:bodyPr/>
                    <a:lstStyle/>
                    <a:p>
                      <a:pPr>
                        <a:defRPr sz="950">
                          <a:solidFill>
                            <a:srgbClr val="0F172A"/>
                          </a:solidFill>
                        </a:defRPr>
                      </a:pPr>
                      <a:r>
                        <a:t>GH₵ 6,343</a:t>
                      </a:r>
                    </a:p>
                  </a:txBody>
                  <a:tcPr>
                    <a:solidFill>
                      <a:srgbClr val="FFFFFF"/>
                    </a:solidFill>
                  </a:tcPr>
                </a:tc>
                <a:tc>
                  <a:txBody>
                    <a:bodyPr/>
                    <a:lstStyle/>
                    <a:p>
                      <a:pPr>
                        <a:defRPr sz="950">
                          <a:solidFill>
                            <a:srgbClr val="0F172A"/>
                          </a:solidFill>
                        </a:defRPr>
                      </a:pPr>
                      <a:r>
                        <a:t>152 Customers</a:t>
                      </a:r>
                    </a:p>
                  </a:txBody>
                  <a:tcPr>
                    <a:solidFill>
                      <a:srgbClr val="FFFFFF"/>
                    </a:solidFill>
                  </a:tcPr>
                </a:tc>
                <a:tc>
                  <a:txBody>
                    <a:bodyPr/>
                    <a:lstStyle/>
                    <a:p>
                      <a:pPr>
                        <a:defRPr sz="950">
                          <a:solidFill>
                            <a:srgbClr val="0F172A"/>
                          </a:solidFill>
                        </a:defRPr>
                      </a:pPr>
                      <a:r>
                        <a:t>High Volume</a:t>
                      </a:r>
                    </a:p>
                  </a:txBody>
                  <a:tcPr>
                    <a:solidFill>
                      <a:srgbClr val="FFFFFF"/>
                    </a:solidFill>
                  </a:tcPr>
                </a:tc>
                <a:extLst>
                  <a:ext uri="{0D108BD9-81ED-4DB2-BD59-A6C34878D82A}">
                    <a16:rowId xmlns:a16="http://schemas.microsoft.com/office/drawing/2014/main" val="10002"/>
                  </a:ext>
                </a:extLst>
              </a:tr>
              <a:tr h="594360">
                <a:tc>
                  <a:txBody>
                    <a:bodyPr/>
                    <a:lstStyle/>
                    <a:p>
                      <a:pPr>
                        <a:defRPr sz="950">
                          <a:solidFill>
                            <a:srgbClr val="0F172A"/>
                          </a:solidFill>
                        </a:defRPr>
                      </a:pPr>
                      <a:r>
                        <a:t>Friday</a:t>
                      </a:r>
                    </a:p>
                  </a:txBody>
                  <a:tcPr>
                    <a:solidFill>
                      <a:srgbClr val="F1F5F9"/>
                    </a:solidFill>
                  </a:tcPr>
                </a:tc>
                <a:tc>
                  <a:txBody>
                    <a:bodyPr/>
                    <a:lstStyle/>
                    <a:p>
                      <a:pPr>
                        <a:defRPr sz="950">
                          <a:solidFill>
                            <a:srgbClr val="0F172A"/>
                          </a:solidFill>
                        </a:defRPr>
                      </a:pPr>
                      <a:r>
                        <a:t>GH₵ 5,888</a:t>
                      </a:r>
                    </a:p>
                  </a:txBody>
                  <a:tcPr>
                    <a:solidFill>
                      <a:srgbClr val="F1F5F9"/>
                    </a:solidFill>
                  </a:tcPr>
                </a:tc>
                <a:tc>
                  <a:txBody>
                    <a:bodyPr/>
                    <a:lstStyle/>
                    <a:p>
                      <a:pPr>
                        <a:defRPr sz="950">
                          <a:solidFill>
                            <a:srgbClr val="0F172A"/>
                          </a:solidFill>
                        </a:defRPr>
                      </a:pPr>
                      <a:r>
                        <a:t>141 Customers</a:t>
                      </a:r>
                    </a:p>
                  </a:txBody>
                  <a:tcPr>
                    <a:solidFill>
                      <a:srgbClr val="F1F5F9"/>
                    </a:solidFill>
                  </a:tcPr>
                </a:tc>
                <a:tc>
                  <a:txBody>
                    <a:bodyPr/>
                    <a:lstStyle/>
                    <a:p>
                      <a:pPr>
                        <a:defRPr sz="950">
                          <a:solidFill>
                            <a:srgbClr val="0F172A"/>
                          </a:solidFill>
                        </a:defRPr>
                      </a:pPr>
                      <a:r>
                        <a:t>Strong Evening Demand</a:t>
                      </a:r>
                    </a:p>
                  </a:txBody>
                  <a:tcPr>
                    <a:solidFill>
                      <a:srgbClr val="F1F5F9"/>
                    </a:solidFill>
                  </a:tcPr>
                </a:tc>
                <a:extLst>
                  <a:ext uri="{0D108BD9-81ED-4DB2-BD59-A6C34878D82A}">
                    <a16:rowId xmlns:a16="http://schemas.microsoft.com/office/drawing/2014/main" val="10003"/>
                  </a:ext>
                </a:extLst>
              </a:tr>
              <a:tr h="594360">
                <a:tc>
                  <a:txBody>
                    <a:bodyPr/>
                    <a:lstStyle/>
                    <a:p>
                      <a:pPr>
                        <a:defRPr sz="950">
                          <a:solidFill>
                            <a:srgbClr val="0F172A"/>
                          </a:solidFill>
                        </a:defRPr>
                      </a:pPr>
                      <a:r>
                        <a:t>Wednesday</a:t>
                      </a:r>
                    </a:p>
                  </a:txBody>
                  <a:tcPr>
                    <a:solidFill>
                      <a:srgbClr val="FFFFFF"/>
                    </a:solidFill>
                  </a:tcPr>
                </a:tc>
                <a:tc>
                  <a:txBody>
                    <a:bodyPr/>
                    <a:lstStyle/>
                    <a:p>
                      <a:pPr>
                        <a:defRPr sz="950">
                          <a:solidFill>
                            <a:srgbClr val="0F172A"/>
                          </a:solidFill>
                        </a:defRPr>
                      </a:pPr>
                      <a:r>
                        <a:t>GH₵ 4,923</a:t>
                      </a:r>
                    </a:p>
                  </a:txBody>
                  <a:tcPr>
                    <a:solidFill>
                      <a:srgbClr val="FFFFFF"/>
                    </a:solidFill>
                  </a:tcPr>
                </a:tc>
                <a:tc>
                  <a:txBody>
                    <a:bodyPr/>
                    <a:lstStyle/>
                    <a:p>
                      <a:pPr>
                        <a:defRPr sz="950">
                          <a:solidFill>
                            <a:srgbClr val="0F172A"/>
                          </a:solidFill>
                        </a:defRPr>
                      </a:pPr>
                      <a:r>
                        <a:t>122 Customers</a:t>
                      </a:r>
                    </a:p>
                  </a:txBody>
                  <a:tcPr>
                    <a:solidFill>
                      <a:srgbClr val="FFFFFF"/>
                    </a:solidFill>
                  </a:tcPr>
                </a:tc>
                <a:tc>
                  <a:txBody>
                    <a:bodyPr/>
                    <a:lstStyle/>
                    <a:p>
                      <a:pPr>
                        <a:defRPr sz="950">
                          <a:solidFill>
                            <a:srgbClr val="0F172A"/>
                          </a:solidFill>
                        </a:defRPr>
                      </a:pPr>
                      <a:r>
                        <a:t>Moderate Volume</a:t>
                      </a:r>
                    </a:p>
                  </a:txBody>
                  <a:tcPr>
                    <a:solidFill>
                      <a:srgbClr val="FFFFFF"/>
                    </a:solidFill>
                  </a:tcPr>
                </a:tc>
                <a:extLst>
                  <a:ext uri="{0D108BD9-81ED-4DB2-BD59-A6C34878D82A}">
                    <a16:rowId xmlns:a16="http://schemas.microsoft.com/office/drawing/2014/main" val="10004"/>
                  </a:ext>
                </a:extLst>
              </a:tr>
              <a:tr h="594360">
                <a:tc>
                  <a:txBody>
                    <a:bodyPr/>
                    <a:lstStyle/>
                    <a:p>
                      <a:pPr>
                        <a:defRPr sz="950">
                          <a:solidFill>
                            <a:srgbClr val="0F172A"/>
                          </a:solidFill>
                        </a:defRPr>
                      </a:pPr>
                      <a:r>
                        <a:t>Thursday</a:t>
                      </a:r>
                    </a:p>
                  </a:txBody>
                  <a:tcPr>
                    <a:solidFill>
                      <a:srgbClr val="F1F5F9"/>
                    </a:solidFill>
                  </a:tcPr>
                </a:tc>
                <a:tc>
                  <a:txBody>
                    <a:bodyPr/>
                    <a:lstStyle/>
                    <a:p>
                      <a:pPr>
                        <a:defRPr sz="950">
                          <a:solidFill>
                            <a:srgbClr val="0F172A"/>
                          </a:solidFill>
                        </a:defRPr>
                      </a:pPr>
                      <a:r>
                        <a:t>GH₵ 4,792</a:t>
                      </a:r>
                    </a:p>
                  </a:txBody>
                  <a:tcPr>
                    <a:solidFill>
                      <a:srgbClr val="F1F5F9"/>
                    </a:solidFill>
                  </a:tcPr>
                </a:tc>
                <a:tc>
                  <a:txBody>
                    <a:bodyPr/>
                    <a:lstStyle/>
                    <a:p>
                      <a:pPr>
                        <a:defRPr sz="950">
                          <a:solidFill>
                            <a:srgbClr val="0F172A"/>
                          </a:solidFill>
                        </a:defRPr>
                      </a:pPr>
                      <a:r>
                        <a:t>119 Customers</a:t>
                      </a:r>
                    </a:p>
                  </a:txBody>
                  <a:tcPr>
                    <a:solidFill>
                      <a:srgbClr val="F1F5F9"/>
                    </a:solidFill>
                  </a:tcPr>
                </a:tc>
                <a:tc>
                  <a:txBody>
                    <a:bodyPr/>
                    <a:lstStyle/>
                    <a:p>
                      <a:pPr>
                        <a:defRPr sz="950">
                          <a:solidFill>
                            <a:srgbClr val="0F172A"/>
                          </a:solidFill>
                        </a:defRPr>
                      </a:pPr>
                      <a:r>
                        <a:t>Slow Day</a:t>
                      </a:r>
                    </a:p>
                  </a:txBody>
                  <a:tcPr>
                    <a:solidFill>
                      <a:srgbClr val="F1F5F9"/>
                    </a:solidFill>
                  </a:tcPr>
                </a:tc>
                <a:extLst>
                  <a:ext uri="{0D108BD9-81ED-4DB2-BD59-A6C34878D82A}">
                    <a16:rowId xmlns:a16="http://schemas.microsoft.com/office/drawing/2014/main" val="10005"/>
                  </a:ext>
                </a:extLst>
              </a:tr>
              <a:tr h="594360">
                <a:tc>
                  <a:txBody>
                    <a:bodyPr/>
                    <a:lstStyle/>
                    <a:p>
                      <a:pPr>
                        <a:defRPr sz="950">
                          <a:solidFill>
                            <a:srgbClr val="0F172A"/>
                          </a:solidFill>
                        </a:defRPr>
                      </a:pPr>
                      <a:r>
                        <a:t>Tuesday</a:t>
                      </a:r>
                    </a:p>
                  </a:txBody>
                  <a:tcPr>
                    <a:solidFill>
                      <a:srgbClr val="FFFFFF"/>
                    </a:solidFill>
                  </a:tcPr>
                </a:tc>
                <a:tc>
                  <a:txBody>
                    <a:bodyPr/>
                    <a:lstStyle/>
                    <a:p>
                      <a:pPr>
                        <a:defRPr sz="950">
                          <a:solidFill>
                            <a:srgbClr val="0F172A"/>
                          </a:solidFill>
                        </a:defRPr>
                      </a:pPr>
                      <a:r>
                        <a:t>GH₵ 4,621</a:t>
                      </a:r>
                    </a:p>
                  </a:txBody>
                  <a:tcPr>
                    <a:solidFill>
                      <a:srgbClr val="FFFFFF"/>
                    </a:solidFill>
                  </a:tcPr>
                </a:tc>
                <a:tc>
                  <a:txBody>
                    <a:bodyPr/>
                    <a:lstStyle/>
                    <a:p>
                      <a:pPr>
                        <a:defRPr sz="950">
                          <a:solidFill>
                            <a:srgbClr val="0F172A"/>
                          </a:solidFill>
                        </a:defRPr>
                      </a:pPr>
                      <a:r>
                        <a:t>116 Customers</a:t>
                      </a:r>
                    </a:p>
                  </a:txBody>
                  <a:tcPr>
                    <a:solidFill>
                      <a:srgbClr val="FFFFFF"/>
                    </a:solidFill>
                  </a:tcPr>
                </a:tc>
                <a:tc>
                  <a:txBody>
                    <a:bodyPr/>
                    <a:lstStyle/>
                    <a:p>
                      <a:pPr>
                        <a:defRPr sz="950">
                          <a:solidFill>
                            <a:srgbClr val="0F172A"/>
                          </a:solidFill>
                        </a:defRPr>
                      </a:pPr>
                      <a:r>
                        <a:t>Slow Day</a:t>
                      </a:r>
                    </a:p>
                  </a:txBody>
                  <a:tcPr>
                    <a:solidFill>
                      <a:srgbClr val="FFFFFF"/>
                    </a:solidFill>
                  </a:tcPr>
                </a:tc>
                <a:extLst>
                  <a:ext uri="{0D108BD9-81ED-4DB2-BD59-A6C34878D82A}">
                    <a16:rowId xmlns:a16="http://schemas.microsoft.com/office/drawing/2014/main" val="10006"/>
                  </a:ext>
                </a:extLst>
              </a:tr>
              <a:tr h="594360">
                <a:tc>
                  <a:txBody>
                    <a:bodyPr/>
                    <a:lstStyle/>
                    <a:p>
                      <a:pPr>
                        <a:defRPr sz="950">
                          <a:solidFill>
                            <a:srgbClr val="0F172A"/>
                          </a:solidFill>
                        </a:defRPr>
                      </a:pPr>
                      <a:r>
                        <a:t>Monday</a:t>
                      </a:r>
                    </a:p>
                  </a:txBody>
                  <a:tcPr>
                    <a:solidFill>
                      <a:srgbClr val="F1F5F9"/>
                    </a:solidFill>
                  </a:tcPr>
                </a:tc>
                <a:tc>
                  <a:txBody>
                    <a:bodyPr/>
                    <a:lstStyle/>
                    <a:p>
                      <a:pPr>
                        <a:defRPr sz="950">
                          <a:solidFill>
                            <a:srgbClr val="0F172A"/>
                          </a:solidFill>
                        </a:defRPr>
                      </a:pPr>
                      <a:r>
                        <a:t>GH₵ 4,481</a:t>
                      </a:r>
                    </a:p>
                  </a:txBody>
                  <a:tcPr>
                    <a:solidFill>
                      <a:srgbClr val="F1F5F9"/>
                    </a:solidFill>
                  </a:tcPr>
                </a:tc>
                <a:tc>
                  <a:txBody>
                    <a:bodyPr/>
                    <a:lstStyle/>
                    <a:p>
                      <a:pPr>
                        <a:defRPr sz="950">
                          <a:solidFill>
                            <a:srgbClr val="0F172A"/>
                          </a:solidFill>
                        </a:defRPr>
                      </a:pPr>
                      <a:r>
                        <a:t>114 Customers</a:t>
                      </a:r>
                    </a:p>
                  </a:txBody>
                  <a:tcPr>
                    <a:solidFill>
                      <a:srgbClr val="F1F5F9"/>
                    </a:solidFill>
                  </a:tcPr>
                </a:tc>
                <a:tc>
                  <a:txBody>
                    <a:bodyPr/>
                    <a:lstStyle/>
                    <a:p>
                      <a:pPr>
                        <a:defRPr sz="950">
                          <a:solidFill>
                            <a:srgbClr val="0F172A"/>
                          </a:solidFill>
                        </a:defRPr>
                      </a:pPr>
                      <a:r>
                        <a:t>Lowest Revenue Day</a:t>
                      </a:r>
                    </a:p>
                  </a:txBody>
                  <a:tcPr>
                    <a:solidFill>
                      <a:srgbClr val="F1F5F9"/>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7223760" y="1463040"/>
            <a:ext cx="4206240" cy="47548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F172A"/>
                </a:solidFill>
              </a:defRPr>
            </a:pPr>
            <a:r>
              <a:t>KEY OPERATIONAL TAKEAWAYS</a:t>
            </a:r>
          </a:p>
          <a:p>
            <a:pPr>
              <a:spcBef>
                <a:spcPts val="1400"/>
              </a:spcBef>
              <a:defRPr sz="1100">
                <a:solidFill>
                  <a:srgbClr val="475569"/>
                </a:solidFill>
              </a:defRPr>
            </a:pPr>
            <a:r>
              <a:t>• 33.5% Revenue Dip: Monday sales (GH₵ 4,481) lag Sunday sales (GH₵ 6,743) by over GH₵ 2,260 per day.</a:t>
            </a:r>
          </a:p>
          <a:p>
            <a:pPr>
              <a:spcBef>
                <a:spcPts val="1400"/>
              </a:spcBef>
              <a:defRPr sz="1100">
                <a:solidFill>
                  <a:srgbClr val="475569"/>
                </a:solidFill>
              </a:defRPr>
            </a:pPr>
            <a:r>
              <a:t>• Weekend Capacity Maxed: Saturdays and Sundays drive the highest average spend and customer volume.</a:t>
            </a:r>
          </a:p>
          <a:p>
            <a:pPr>
              <a:spcBef>
                <a:spcPts val="1400"/>
              </a:spcBef>
              <a:defRPr sz="1100">
                <a:solidFill>
                  <a:srgbClr val="475569"/>
                </a:solidFill>
              </a:defRPr>
            </a:pPr>
            <a:r>
              <a:t>• Core Strategy: The path to revenue growth is not pushing weekend limits, but smoothing out mid-week lulls (Mondays &amp; Thursdays) with targeted campaigns.</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D97706"/>
                </a:solidFill>
              </a:defRPr>
            </a:pPr>
            <a:r>
              <a:t>TASTY BITES BUSINESS INTELLIGENCE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Promotional Effectiveness: Active Promos Drive Revenue &amp; Satisfaction</a:t>
            </a:r>
          </a:p>
        </p:txBody>
      </p:sp>
      <p:sp>
        <p:nvSpPr>
          <p:cNvPr id="4" name="Rounded Rectangle 3"/>
          <p:cNvSpPr/>
          <p:nvPr/>
        </p:nvSpPr>
        <p:spPr>
          <a:xfrm>
            <a:off x="731520" y="1463040"/>
            <a:ext cx="5120640" cy="292608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475569"/>
                </a:solidFill>
              </a:defRPr>
            </a:pPr>
            <a:r>
              <a:t>DAYS WITHOUT PROMOTIONS</a:t>
            </a:r>
          </a:p>
          <a:p>
            <a:pPr>
              <a:spcBef>
                <a:spcPts val="1000"/>
              </a:spcBef>
              <a:defRPr sz="1200" b="1">
                <a:solidFill>
                  <a:srgbClr val="0F172A"/>
                </a:solidFill>
              </a:defRPr>
            </a:pPr>
            <a:r>
              <a:t>Avg Daily Sales: GH₵ 5,186</a:t>
            </a:r>
          </a:p>
          <a:p>
            <a:pPr>
              <a:spcBef>
                <a:spcPts val="1000"/>
              </a:spcBef>
              <a:defRPr sz="1200" b="1">
                <a:solidFill>
                  <a:srgbClr val="0F172A"/>
                </a:solidFill>
              </a:defRPr>
            </a:pPr>
            <a:r>
              <a:t>Daily Traffic: 129 Customers / day</a:t>
            </a:r>
          </a:p>
          <a:p>
            <a:pPr>
              <a:spcBef>
                <a:spcPts val="1000"/>
              </a:spcBef>
              <a:defRPr sz="1200" b="1">
                <a:solidFill>
                  <a:srgbClr val="0F172A"/>
                </a:solidFill>
              </a:defRPr>
            </a:pPr>
            <a:r>
              <a:t>Customer Rating: 4.41 / 5.0</a:t>
            </a:r>
          </a:p>
        </p:txBody>
      </p:sp>
      <p:sp>
        <p:nvSpPr>
          <p:cNvPr id="5" name="Rounded Rectangle 4"/>
          <p:cNvSpPr/>
          <p:nvPr/>
        </p:nvSpPr>
        <p:spPr>
          <a:xfrm>
            <a:off x="6309360" y="1463040"/>
            <a:ext cx="5120640" cy="29260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D97706"/>
                </a:solidFill>
              </a:defRPr>
            </a:pPr>
            <a:r>
              <a:t>DAYS WITH ACTIVE PROMOTIONS</a:t>
            </a:r>
          </a:p>
          <a:p>
            <a:pPr>
              <a:spcBef>
                <a:spcPts val="1000"/>
              </a:spcBef>
              <a:defRPr sz="1200" b="1">
                <a:solidFill>
                  <a:srgbClr val="FFFFFF"/>
                </a:solidFill>
              </a:defRPr>
            </a:pPr>
            <a:r>
              <a:t>Avg Daily Sales: GH₵ 5,717 (+10.2% Lift)</a:t>
            </a:r>
          </a:p>
          <a:p>
            <a:pPr>
              <a:spcBef>
                <a:spcPts val="1000"/>
              </a:spcBef>
              <a:defRPr sz="1200" b="1">
                <a:solidFill>
                  <a:srgbClr val="FFFFFF"/>
                </a:solidFill>
              </a:defRPr>
            </a:pPr>
            <a:r>
              <a:t>Daily Traffic: 140 Customers (+8.5% Lift)</a:t>
            </a:r>
          </a:p>
          <a:p>
            <a:pPr>
              <a:spcBef>
                <a:spcPts val="1000"/>
              </a:spcBef>
              <a:defRPr sz="1200" b="1">
                <a:solidFill>
                  <a:srgbClr val="FFFFFF"/>
                </a:solidFill>
              </a:defRPr>
            </a:pPr>
            <a:r>
              <a:t>Customer Rating: 4.66 / 5.0 (+0.25 Rating Boost)</a:t>
            </a:r>
          </a:p>
        </p:txBody>
      </p:sp>
      <p:sp>
        <p:nvSpPr>
          <p:cNvPr id="6" name="Rounded Rectangle 5"/>
          <p:cNvSpPr/>
          <p:nvPr/>
        </p:nvSpPr>
        <p:spPr>
          <a:xfrm>
            <a:off x="731520" y="4663440"/>
            <a:ext cx="10698480" cy="1554480"/>
          </a:xfrm>
          <a:prstGeom prst="roundRect">
            <a:avLst/>
          </a:prstGeom>
          <a:solidFill>
            <a:srgbClr val="E0F2FE"/>
          </a:solidFill>
          <a:ln>
            <a:solidFill>
              <a:srgbClr val="0284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284C7"/>
                </a:solidFill>
              </a:defRPr>
            </a:pPr>
            <a:r>
              <a:t>STRATEGIC TAKEAWAY FOR MANAGEMENT</a:t>
            </a:r>
          </a:p>
          <a:p>
            <a:pPr>
              <a:spcBef>
                <a:spcPts val="600"/>
              </a:spcBef>
              <a:defRPr sz="1100">
                <a:solidFill>
                  <a:srgbClr val="0F172A"/>
                </a:solidFill>
              </a:defRPr>
            </a:pPr>
            <a:r>
              <a:t>Promotions generate an immediate +10.2% top-line revenue lift and higher customer satisfaction (4.66 vs 4.41). Rather than blanket discounts, targeted promotional bundles should be deployed specifically on Mondays and Thursdays to fill empty seats without eroding profitability.</a:t>
            </a: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D97706"/>
                </a:solidFill>
              </a:defRPr>
            </a:pPr>
            <a:r>
              <a:t>TASTY BITES BUSINESS INTELLIGENCE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Menu Performance &amp; Weather Dynamics: Revenue Drivers</a:t>
            </a:r>
          </a:p>
        </p:txBody>
      </p:sp>
      <p:graphicFrame>
        <p:nvGraphicFramePr>
          <p:cNvPr id="4" name="Table 3"/>
          <p:cNvGraphicFramePr>
            <a:graphicFrameLocks noGrp="1"/>
          </p:cNvGraphicFramePr>
          <p:nvPr/>
        </p:nvGraphicFramePr>
        <p:xfrm>
          <a:off x="731520" y="1463040"/>
          <a:ext cx="5486400" cy="475488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679268">
                <a:tc>
                  <a:txBody>
                    <a:bodyPr/>
                    <a:lstStyle/>
                    <a:p>
                      <a:pPr>
                        <a:defRPr sz="1000" b="1">
                          <a:solidFill>
                            <a:srgbClr val="FFFFFF"/>
                          </a:solidFill>
                        </a:defRPr>
                      </a:pPr>
                      <a:r>
                        <a:t>Menu Item</a:t>
                      </a:r>
                    </a:p>
                  </a:txBody>
                  <a:tcPr>
                    <a:solidFill>
                      <a:srgbClr val="0F172A"/>
                    </a:solidFill>
                  </a:tcPr>
                </a:tc>
                <a:tc>
                  <a:txBody>
                    <a:bodyPr/>
                    <a:lstStyle/>
                    <a:p>
                      <a:pPr>
                        <a:defRPr sz="1000" b="1">
                          <a:solidFill>
                            <a:srgbClr val="FFFFFF"/>
                          </a:solidFill>
                        </a:defRPr>
                      </a:pPr>
                      <a:r>
                        <a:t>Days Top Seller</a:t>
                      </a:r>
                    </a:p>
                  </a:txBody>
                  <a:tcPr>
                    <a:solidFill>
                      <a:srgbClr val="0F172A"/>
                    </a:solidFill>
                  </a:tcPr>
                </a:tc>
                <a:tc>
                  <a:txBody>
                    <a:bodyPr/>
                    <a:lstStyle/>
                    <a:p>
                      <a:pPr>
                        <a:defRPr sz="1000" b="1">
                          <a:solidFill>
                            <a:srgbClr val="FFFFFF"/>
                          </a:solidFill>
                        </a:defRPr>
                      </a:pPr>
                      <a:r>
                        <a:t>Avg Daily Sales</a:t>
                      </a:r>
                    </a:p>
                  </a:txBody>
                  <a:tcPr>
                    <a:solidFill>
                      <a:srgbClr val="0F172A"/>
                    </a:solidFill>
                  </a:tcPr>
                </a:tc>
                <a:extLst>
                  <a:ext uri="{0D108BD9-81ED-4DB2-BD59-A6C34878D82A}">
                    <a16:rowId xmlns:a16="http://schemas.microsoft.com/office/drawing/2014/main" val="10000"/>
                  </a:ext>
                </a:extLst>
              </a:tr>
              <a:tr h="679268">
                <a:tc>
                  <a:txBody>
                    <a:bodyPr/>
                    <a:lstStyle/>
                    <a:p>
                      <a:pPr>
                        <a:defRPr sz="950">
                          <a:solidFill>
                            <a:srgbClr val="0F172A"/>
                          </a:solidFill>
                        </a:defRPr>
                      </a:pPr>
                      <a:r>
                        <a:t>Jollof &amp; Chicken</a:t>
                      </a:r>
                    </a:p>
                  </a:txBody>
                  <a:tcPr>
                    <a:solidFill>
                      <a:srgbClr val="F1F5F9"/>
                    </a:solidFill>
                  </a:tcPr>
                </a:tc>
                <a:tc>
                  <a:txBody>
                    <a:bodyPr/>
                    <a:lstStyle/>
                    <a:p>
                      <a:pPr>
                        <a:defRPr sz="950">
                          <a:solidFill>
                            <a:srgbClr val="0F172A"/>
                          </a:solidFill>
                        </a:defRPr>
                      </a:pPr>
                      <a:r>
                        <a:t>72 Days (Most Popular)</a:t>
                      </a:r>
                    </a:p>
                  </a:txBody>
                  <a:tcPr>
                    <a:solidFill>
                      <a:srgbClr val="F1F5F9"/>
                    </a:solidFill>
                  </a:tcPr>
                </a:tc>
                <a:tc>
                  <a:txBody>
                    <a:bodyPr/>
                    <a:lstStyle/>
                    <a:p>
                      <a:pPr>
                        <a:defRPr sz="950">
                          <a:solidFill>
                            <a:srgbClr val="0F172A"/>
                          </a:solidFill>
                        </a:defRPr>
                      </a:pPr>
                      <a:r>
                        <a:t>GH₵ 6,450</a:t>
                      </a:r>
                    </a:p>
                  </a:txBody>
                  <a:tcPr>
                    <a:solidFill>
                      <a:srgbClr val="F1F5F9"/>
                    </a:solidFill>
                  </a:tcPr>
                </a:tc>
                <a:extLst>
                  <a:ext uri="{0D108BD9-81ED-4DB2-BD59-A6C34878D82A}">
                    <a16:rowId xmlns:a16="http://schemas.microsoft.com/office/drawing/2014/main" val="10001"/>
                  </a:ext>
                </a:extLst>
              </a:tr>
              <a:tr h="679268">
                <a:tc>
                  <a:txBody>
                    <a:bodyPr/>
                    <a:lstStyle/>
                    <a:p>
                      <a:pPr>
                        <a:defRPr sz="950">
                          <a:solidFill>
                            <a:srgbClr val="0F172A"/>
                          </a:solidFill>
                        </a:defRPr>
                      </a:pPr>
                      <a:r>
                        <a:t>Fufu &amp; Light Soup</a:t>
                      </a:r>
                    </a:p>
                  </a:txBody>
                  <a:tcPr>
                    <a:solidFill>
                      <a:srgbClr val="FFFFFF"/>
                    </a:solidFill>
                  </a:tcPr>
                </a:tc>
                <a:tc>
                  <a:txBody>
                    <a:bodyPr/>
                    <a:lstStyle/>
                    <a:p>
                      <a:pPr>
                        <a:defRPr sz="950">
                          <a:solidFill>
                            <a:srgbClr val="0F172A"/>
                          </a:solidFill>
                        </a:defRPr>
                      </a:pPr>
                      <a:r>
                        <a:t>58 Days (Rain/Sun Peak)</a:t>
                      </a:r>
                    </a:p>
                  </a:txBody>
                  <a:tcPr>
                    <a:solidFill>
                      <a:srgbClr val="FFFFFF"/>
                    </a:solidFill>
                  </a:tcPr>
                </a:tc>
                <a:tc>
                  <a:txBody>
                    <a:bodyPr/>
                    <a:lstStyle/>
                    <a:p>
                      <a:pPr>
                        <a:defRPr sz="950">
                          <a:solidFill>
                            <a:srgbClr val="0F172A"/>
                          </a:solidFill>
                        </a:defRPr>
                      </a:pPr>
                      <a:r>
                        <a:t>GH₵ 7,886 (Highest)</a:t>
                      </a:r>
                    </a:p>
                  </a:txBody>
                  <a:tcPr>
                    <a:solidFill>
                      <a:srgbClr val="FFFFFF"/>
                    </a:solidFill>
                  </a:tcPr>
                </a:tc>
                <a:extLst>
                  <a:ext uri="{0D108BD9-81ED-4DB2-BD59-A6C34878D82A}">
                    <a16:rowId xmlns:a16="http://schemas.microsoft.com/office/drawing/2014/main" val="10002"/>
                  </a:ext>
                </a:extLst>
              </a:tr>
              <a:tr h="679268">
                <a:tc>
                  <a:txBody>
                    <a:bodyPr/>
                    <a:lstStyle/>
                    <a:p>
                      <a:pPr>
                        <a:defRPr sz="950">
                          <a:solidFill>
                            <a:srgbClr val="0F172A"/>
                          </a:solidFill>
                        </a:defRPr>
                      </a:pPr>
                      <a:r>
                        <a:t>Banku &amp; Fish</a:t>
                      </a:r>
                    </a:p>
                  </a:txBody>
                  <a:tcPr>
                    <a:solidFill>
                      <a:srgbClr val="F1F5F9"/>
                    </a:solidFill>
                  </a:tcPr>
                </a:tc>
                <a:tc>
                  <a:txBody>
                    <a:bodyPr/>
                    <a:lstStyle/>
                    <a:p>
                      <a:pPr>
                        <a:defRPr sz="950">
                          <a:solidFill>
                            <a:srgbClr val="0F172A"/>
                          </a:solidFill>
                        </a:defRPr>
                      </a:pPr>
                      <a:r>
                        <a:t>45 Days (Saturday Peak)</a:t>
                      </a:r>
                    </a:p>
                  </a:txBody>
                  <a:tcPr>
                    <a:solidFill>
                      <a:srgbClr val="F1F5F9"/>
                    </a:solidFill>
                  </a:tcPr>
                </a:tc>
                <a:tc>
                  <a:txBody>
                    <a:bodyPr/>
                    <a:lstStyle/>
                    <a:p>
                      <a:pPr>
                        <a:defRPr sz="950">
                          <a:solidFill>
                            <a:srgbClr val="0F172A"/>
                          </a:solidFill>
                        </a:defRPr>
                      </a:pPr>
                      <a:r>
                        <a:t>GH₵ 7,197</a:t>
                      </a:r>
                    </a:p>
                  </a:txBody>
                  <a:tcPr>
                    <a:solidFill>
                      <a:srgbClr val="F1F5F9"/>
                    </a:solidFill>
                  </a:tcPr>
                </a:tc>
                <a:extLst>
                  <a:ext uri="{0D108BD9-81ED-4DB2-BD59-A6C34878D82A}">
                    <a16:rowId xmlns:a16="http://schemas.microsoft.com/office/drawing/2014/main" val="10003"/>
                  </a:ext>
                </a:extLst>
              </a:tr>
              <a:tr h="679268">
                <a:tc>
                  <a:txBody>
                    <a:bodyPr/>
                    <a:lstStyle/>
                    <a:p>
                      <a:pPr>
                        <a:defRPr sz="950">
                          <a:solidFill>
                            <a:srgbClr val="0F172A"/>
                          </a:solidFill>
                        </a:defRPr>
                      </a:pPr>
                      <a:r>
                        <a:t>Grilled Tilapia</a:t>
                      </a:r>
                    </a:p>
                  </a:txBody>
                  <a:tcPr>
                    <a:solidFill>
                      <a:srgbClr val="FFFFFF"/>
                    </a:solidFill>
                  </a:tcPr>
                </a:tc>
                <a:tc>
                  <a:txBody>
                    <a:bodyPr/>
                    <a:lstStyle/>
                    <a:p>
                      <a:pPr>
                        <a:defRPr sz="950">
                          <a:solidFill>
                            <a:srgbClr val="0F172A"/>
                          </a:solidFill>
                        </a:defRPr>
                      </a:pPr>
                      <a:r>
                        <a:t>38 Days</a:t>
                      </a:r>
                    </a:p>
                  </a:txBody>
                  <a:tcPr>
                    <a:solidFill>
                      <a:srgbClr val="FFFFFF"/>
                    </a:solidFill>
                  </a:tcPr>
                </a:tc>
                <a:tc>
                  <a:txBody>
                    <a:bodyPr/>
                    <a:lstStyle/>
                    <a:p>
                      <a:pPr>
                        <a:defRPr sz="950">
                          <a:solidFill>
                            <a:srgbClr val="0F172A"/>
                          </a:solidFill>
                        </a:defRPr>
                      </a:pPr>
                      <a:r>
                        <a:t>GH₵ 5,820</a:t>
                      </a:r>
                    </a:p>
                  </a:txBody>
                  <a:tcPr>
                    <a:solidFill>
                      <a:srgbClr val="FFFFFF"/>
                    </a:solidFill>
                  </a:tcPr>
                </a:tc>
                <a:extLst>
                  <a:ext uri="{0D108BD9-81ED-4DB2-BD59-A6C34878D82A}">
                    <a16:rowId xmlns:a16="http://schemas.microsoft.com/office/drawing/2014/main" val="10004"/>
                  </a:ext>
                </a:extLst>
              </a:tr>
              <a:tr h="679268">
                <a:tc>
                  <a:txBody>
                    <a:bodyPr/>
                    <a:lstStyle/>
                    <a:p>
                      <a:pPr>
                        <a:defRPr sz="950">
                          <a:solidFill>
                            <a:srgbClr val="0F172A"/>
                          </a:solidFill>
                        </a:defRPr>
                      </a:pPr>
                      <a:r>
                        <a:t>Fried Rice &amp; Beef</a:t>
                      </a:r>
                    </a:p>
                  </a:txBody>
                  <a:tcPr>
                    <a:solidFill>
                      <a:srgbClr val="F1F5F9"/>
                    </a:solidFill>
                  </a:tcPr>
                </a:tc>
                <a:tc>
                  <a:txBody>
                    <a:bodyPr/>
                    <a:lstStyle/>
                    <a:p>
                      <a:pPr>
                        <a:defRPr sz="950">
                          <a:solidFill>
                            <a:srgbClr val="0F172A"/>
                          </a:solidFill>
                        </a:defRPr>
                      </a:pPr>
                      <a:r>
                        <a:t>22 Days</a:t>
                      </a:r>
                    </a:p>
                  </a:txBody>
                  <a:tcPr>
                    <a:solidFill>
                      <a:srgbClr val="F1F5F9"/>
                    </a:solidFill>
                  </a:tcPr>
                </a:tc>
                <a:tc>
                  <a:txBody>
                    <a:bodyPr/>
                    <a:lstStyle/>
                    <a:p>
                      <a:pPr>
                        <a:defRPr sz="950">
                          <a:solidFill>
                            <a:srgbClr val="0F172A"/>
                          </a:solidFill>
                        </a:defRPr>
                      </a:pPr>
                      <a:r>
                        <a:t>GH₵ 4,910</a:t>
                      </a:r>
                    </a:p>
                  </a:txBody>
                  <a:tcPr>
                    <a:solidFill>
                      <a:srgbClr val="F1F5F9"/>
                    </a:solidFill>
                  </a:tcPr>
                </a:tc>
                <a:extLst>
                  <a:ext uri="{0D108BD9-81ED-4DB2-BD59-A6C34878D82A}">
                    <a16:rowId xmlns:a16="http://schemas.microsoft.com/office/drawing/2014/main" val="10005"/>
                  </a:ext>
                </a:extLst>
              </a:tr>
              <a:tr h="679272">
                <a:tc>
                  <a:txBody>
                    <a:bodyPr/>
                    <a:lstStyle/>
                    <a:p>
                      <a:pPr>
                        <a:defRPr sz="950">
                          <a:solidFill>
                            <a:srgbClr val="0F172A"/>
                          </a:solidFill>
                        </a:defRPr>
                      </a:pPr>
                      <a:r>
                        <a:t>Waakye</a:t>
                      </a:r>
                    </a:p>
                  </a:txBody>
                  <a:tcPr>
                    <a:solidFill>
                      <a:srgbClr val="FFFFFF"/>
                    </a:solidFill>
                  </a:tcPr>
                </a:tc>
                <a:tc>
                  <a:txBody>
                    <a:bodyPr/>
                    <a:lstStyle/>
                    <a:p>
                      <a:pPr>
                        <a:defRPr sz="950">
                          <a:solidFill>
                            <a:srgbClr val="0F172A"/>
                          </a:solidFill>
                        </a:defRPr>
                      </a:pPr>
                      <a:r>
                        <a:t>15 Days</a:t>
                      </a:r>
                    </a:p>
                  </a:txBody>
                  <a:tcPr>
                    <a:solidFill>
                      <a:srgbClr val="FFFFFF"/>
                    </a:solidFill>
                  </a:tcPr>
                </a:tc>
                <a:tc>
                  <a:txBody>
                    <a:bodyPr/>
                    <a:lstStyle/>
                    <a:p>
                      <a:pPr>
                        <a:defRPr sz="950">
                          <a:solidFill>
                            <a:srgbClr val="0F172A"/>
                          </a:solidFill>
                        </a:defRPr>
                      </a:pPr>
                      <a:r>
                        <a:t>GH₵ 4,320</a:t>
                      </a:r>
                    </a:p>
                  </a:txBody>
                  <a:tcPr>
                    <a:solidFill>
                      <a:srgbClr val="FFFFFF"/>
                    </a:solidFill>
                  </a:tcPr>
                </a:tc>
                <a:extLst>
                  <a:ext uri="{0D108BD9-81ED-4DB2-BD59-A6C34878D82A}">
                    <a16:rowId xmlns:a16="http://schemas.microsoft.com/office/drawing/2014/main" val="10006"/>
                  </a:ext>
                </a:extLst>
              </a:tr>
            </a:tbl>
          </a:graphicData>
        </a:graphic>
      </p:graphicFrame>
      <p:sp>
        <p:nvSpPr>
          <p:cNvPr id="5" name="Rounded Rectangle 4"/>
          <p:cNvSpPr/>
          <p:nvPr/>
        </p:nvSpPr>
        <p:spPr>
          <a:xfrm>
            <a:off x="6492240" y="1463040"/>
            <a:ext cx="4937760" cy="47548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F172A"/>
                </a:solidFill>
              </a:defRPr>
            </a:pPr>
            <a:r>
              <a:t>WEATHER IMPACT ON DEMAND</a:t>
            </a:r>
          </a:p>
          <a:p>
            <a:pPr>
              <a:spcBef>
                <a:spcPts val="1200"/>
              </a:spcBef>
              <a:defRPr sz="1050">
                <a:solidFill>
                  <a:srgbClr val="475569"/>
                </a:solidFill>
              </a:defRPr>
            </a:pPr>
            <a:r>
              <a:t>• Rainy Day Revenue Surge: Rainy days deliver the highest average daily sales (GH₵ 5,851) vs Sunny days (GH₵ 4,994).</a:t>
            </a:r>
          </a:p>
          <a:p>
            <a:pPr>
              <a:spcBef>
                <a:spcPts val="1200"/>
              </a:spcBef>
              <a:defRPr sz="1050">
                <a:solidFill>
                  <a:srgbClr val="475569"/>
                </a:solidFill>
              </a:defRPr>
            </a:pPr>
            <a:r>
              <a:t>• Soup &amp; Warm Meal Spike: On rainy and overcast days, customer craving shifts massively toward Fufu &amp; Light Soup and Jollof &amp; Chicken.</a:t>
            </a:r>
          </a:p>
          <a:p>
            <a:pPr>
              <a:spcBef>
                <a:spcPts val="1200"/>
              </a:spcBef>
              <a:defRPr sz="1050">
                <a:solidFill>
                  <a:srgbClr val="475569"/>
                </a:solidFill>
              </a:defRPr>
            </a:pPr>
            <a:r>
              <a:t>• High-Margin Premium Dishes: Fufu &amp; Light Soup (GH₵ 7,886 avg) and Banku &amp; Fish (GH₵ 7,197 avg) generate highest single-day revenue.</a:t>
            </a:r>
          </a:p>
          <a:p>
            <a:pPr>
              <a:spcBef>
                <a:spcPts val="1200"/>
              </a:spcBef>
              <a:defRPr sz="1050">
                <a:solidFill>
                  <a:srgbClr val="475569"/>
                </a:solidFill>
              </a:defRPr>
            </a:pPr>
            <a:r>
              <a:t>• Kitchen Action: Align morning inventory prep with daily weather forecasts to avoid running out of Fufu on rainy days.</a:t>
            </a: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D97706"/>
                </a:solidFill>
              </a:defRPr>
            </a:pPr>
            <a:r>
              <a:t>TASTY BITES BUSINESS INTELLIGENCE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Interactive Power BI Executive Dashboard Showcase</a:t>
            </a:r>
          </a:p>
        </p:txBody>
      </p:sp>
      <p:sp>
        <p:nvSpPr>
          <p:cNvPr id="4" name="Rounded Rectangle 3"/>
          <p:cNvSpPr/>
          <p:nvPr/>
        </p:nvSpPr>
        <p:spPr>
          <a:xfrm>
            <a:off x="731520" y="1463040"/>
            <a:ext cx="10698480" cy="47548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D97706"/>
                </a:solidFill>
              </a:defRPr>
            </a:pPr>
            <a:r>
              <a:rPr dirty="0"/>
              <a:t>LIVE POWER BI DASHBOARD DEMONSTRATION</a:t>
            </a:r>
            <a:endParaRPr lang="en-GB" dirty="0"/>
          </a:p>
          <a:p>
            <a:pPr algn="ctr">
              <a:defRPr sz="1600" b="1">
                <a:solidFill>
                  <a:srgbClr val="D97706"/>
                </a:solidFill>
              </a:defRPr>
            </a:pPr>
            <a:endParaRPr lang="en-GB" dirty="0"/>
          </a:p>
          <a:p>
            <a:pPr algn="ctr">
              <a:defRPr sz="1600" b="1">
                <a:solidFill>
                  <a:srgbClr val="D97706"/>
                </a:solidFill>
              </a:defRPr>
            </a:pPr>
            <a:endParaRPr lang="en-GB" dirty="0"/>
          </a:p>
          <a:p>
            <a:pPr algn="ctr">
              <a:defRPr sz="1600" b="1">
                <a:solidFill>
                  <a:srgbClr val="D97706"/>
                </a:solidFill>
              </a:defRPr>
            </a:pPr>
            <a:endParaRPr lang="en-GB" dirty="0"/>
          </a:p>
          <a:p>
            <a:pPr algn="ctr">
              <a:defRPr sz="1600" b="1">
                <a:solidFill>
                  <a:srgbClr val="D97706"/>
                </a:solidFill>
              </a:defRPr>
            </a:pPr>
            <a:endParaRPr lang="en-GB" dirty="0"/>
          </a:p>
          <a:p>
            <a:pPr algn="ctr">
              <a:defRPr sz="1600" b="1">
                <a:solidFill>
                  <a:srgbClr val="D97706"/>
                </a:solidFill>
              </a:defRPr>
            </a:pPr>
            <a:endParaRPr lang="en-GB" dirty="0"/>
          </a:p>
          <a:p>
            <a:pPr algn="ctr">
              <a:defRPr sz="1600" b="1">
                <a:solidFill>
                  <a:srgbClr val="D97706"/>
                </a:solidFill>
              </a:defRPr>
            </a:pPr>
            <a:endParaRPr lang="en-GB" dirty="0"/>
          </a:p>
          <a:p>
            <a:pPr algn="ctr">
              <a:defRPr sz="1600" b="1">
                <a:solidFill>
                  <a:srgbClr val="D97706"/>
                </a:solidFill>
              </a:defRPr>
            </a:pPr>
            <a:endParaRPr dirty="0"/>
          </a:p>
          <a:p>
            <a:pPr>
              <a:spcBef>
                <a:spcPts val="4000"/>
              </a:spcBef>
              <a:defRPr sz="1200" b="1">
                <a:solidFill>
                  <a:srgbClr val="FFFFFF"/>
                </a:solidFill>
              </a:defRPr>
            </a:pPr>
            <a:endParaRPr lang="en-GB" dirty="0"/>
          </a:p>
          <a:p>
            <a:pPr>
              <a:spcBef>
                <a:spcPts val="4000"/>
              </a:spcBef>
              <a:defRPr sz="1200" b="1">
                <a:solidFill>
                  <a:srgbClr val="FFFFFF"/>
                </a:solidFill>
              </a:defRPr>
            </a:pPr>
            <a:r>
              <a:rPr dirty="0"/>
              <a:t>Key Interactive Features to Demonstrate to Panel:</a:t>
            </a:r>
          </a:p>
          <a:p>
            <a:pPr>
              <a:spcBef>
                <a:spcPts val="1000"/>
              </a:spcBef>
              <a:defRPr sz="1100">
                <a:solidFill>
                  <a:srgbClr val="E2E8F0"/>
                </a:solidFill>
              </a:defRPr>
            </a:pPr>
            <a:r>
              <a:rPr dirty="0"/>
              <a:t>1. Promotion Tile Slicer: Click 'Yes' / 'No' to demonstrate immediate KPI card recalculations.</a:t>
            </a:r>
          </a:p>
          <a:p>
            <a:pPr>
              <a:spcBef>
                <a:spcPts val="1000"/>
              </a:spcBef>
              <a:defRPr sz="1100">
                <a:solidFill>
                  <a:srgbClr val="E2E8F0"/>
                </a:solidFill>
              </a:defRPr>
            </a:pPr>
            <a:r>
              <a:rPr dirty="0"/>
              <a:t>2. Weather Cross-Filtering: Select 'Rainy' bar to show Fufu &amp; Light Soup sales spike.</a:t>
            </a:r>
          </a:p>
          <a:p>
            <a:pPr>
              <a:spcBef>
                <a:spcPts val="1000"/>
              </a:spcBef>
              <a:defRPr sz="1100">
                <a:solidFill>
                  <a:srgbClr val="E2E8F0"/>
                </a:solidFill>
              </a:defRPr>
            </a:pPr>
            <a:r>
              <a:rPr dirty="0"/>
              <a:t>3. Day-of-Week Sorting: Filter by 'Monday' to highlight mid-week sales gap.</a:t>
            </a:r>
          </a:p>
        </p:txBody>
      </p:sp>
      <p:pic>
        <p:nvPicPr>
          <p:cNvPr id="8" name="Picture 7">
            <a:extLst>
              <a:ext uri="{FF2B5EF4-FFF2-40B4-BE49-F238E27FC236}">
                <a16:creationId xmlns:a16="http://schemas.microsoft.com/office/drawing/2014/main" id="{80A19D7C-E49D-A66D-F599-A2DCE1B7E33C}"/>
              </a:ext>
            </a:extLst>
          </p:cNvPr>
          <p:cNvPicPr>
            <a:picLocks noChangeAspect="1"/>
          </p:cNvPicPr>
          <p:nvPr/>
        </p:nvPicPr>
        <p:blipFill>
          <a:blip r:embed="rId2"/>
          <a:stretch>
            <a:fillRect/>
          </a:stretch>
        </p:blipFill>
        <p:spPr>
          <a:xfrm>
            <a:off x="2179952" y="2047085"/>
            <a:ext cx="7268847" cy="2608575"/>
          </a:xfrm>
          <a:prstGeom prst="rect">
            <a:avLst/>
          </a:prstGeom>
        </p:spPr>
      </p:pic>
    </p:spTree>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D97706"/>
                </a:solidFill>
              </a:defRPr>
            </a:pPr>
            <a:r>
              <a:t>TASTY BITES BUSINESS INTELLIGENCE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Actionable Recommendations for Tasty Bites Management</a:t>
            </a:r>
          </a:p>
        </p:txBody>
      </p:sp>
      <p:sp>
        <p:nvSpPr>
          <p:cNvPr id="4" name="Rounded Rectangle 3"/>
          <p:cNvSpPr/>
          <p:nvPr/>
        </p:nvSpPr>
        <p:spPr>
          <a:xfrm>
            <a:off x="731520" y="1463040"/>
            <a:ext cx="3383280" cy="4754880"/>
          </a:xfrm>
          <a:prstGeom prst="roundRect">
            <a:avLst/>
          </a:prstGeom>
          <a:solidFill>
            <a:srgbClr val="F1F5F9"/>
          </a:solidFill>
          <a:ln>
            <a:solidFill>
              <a:srgbClr val="D9770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F172A"/>
                </a:solidFill>
              </a:defRPr>
            </a:pPr>
            <a:r>
              <a:t>1. Launch 'Mid-Week Spark' Combos</a:t>
            </a:r>
          </a:p>
          <a:p>
            <a:pPr>
              <a:spcBef>
                <a:spcPts val="1400"/>
              </a:spcBef>
              <a:defRPr sz="1100">
                <a:solidFill>
                  <a:srgbClr val="475569"/>
                </a:solidFill>
              </a:defRPr>
            </a:pPr>
            <a:r>
              <a:t>Run targeted promotions on Mondays &amp; Thursdays (slowest days).</a:t>
            </a:r>
            <a:br/>
            <a:br/>
            <a:r>
              <a:t>Feature Jollof &amp; Chicken combo deals with beverages to target nearby office workers and students, bridging the 33% revenue gap.</a:t>
            </a:r>
          </a:p>
        </p:txBody>
      </p:sp>
      <p:sp>
        <p:nvSpPr>
          <p:cNvPr id="5" name="Rounded Rectangle 4"/>
          <p:cNvSpPr/>
          <p:nvPr/>
        </p:nvSpPr>
        <p:spPr>
          <a:xfrm>
            <a:off x="4389120" y="1463040"/>
            <a:ext cx="3383280" cy="47548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F172A"/>
                </a:solidFill>
              </a:defRPr>
            </a:pPr>
            <a:r>
              <a:t>2. Weather-Adaptive Prep</a:t>
            </a:r>
          </a:p>
          <a:p>
            <a:pPr>
              <a:spcBef>
                <a:spcPts val="1400"/>
              </a:spcBef>
              <a:defRPr sz="1100">
                <a:solidFill>
                  <a:srgbClr val="475569"/>
                </a:solidFill>
              </a:defRPr>
            </a:pPr>
            <a:r>
              <a:t>Integrate morning weather forecasts into daily kitchen inventory scheduling.</a:t>
            </a:r>
            <a:br/>
            <a:br/>
            <a:r>
              <a:t>Increase prep for Fufu &amp; Light Soup on rainy/overcast mornings and Sundays to eliminate stockouts and maximize high-spend sales.</a:t>
            </a:r>
          </a:p>
        </p:txBody>
      </p:sp>
      <p:sp>
        <p:nvSpPr>
          <p:cNvPr id="6" name="Rounded Rectangle 5"/>
          <p:cNvSpPr/>
          <p:nvPr/>
        </p:nvSpPr>
        <p:spPr>
          <a:xfrm>
            <a:off x="8046720" y="1463040"/>
            <a:ext cx="3383280" cy="47548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F172A"/>
                </a:solidFill>
              </a:defRPr>
            </a:pPr>
            <a:r>
              <a:t>3. Weekend Loyalty Packages</a:t>
            </a:r>
          </a:p>
          <a:p>
            <a:pPr>
              <a:spcBef>
                <a:spcPts val="1400"/>
              </a:spcBef>
              <a:defRPr sz="1100">
                <a:solidFill>
                  <a:srgbClr val="475569"/>
                </a:solidFill>
              </a:defRPr>
            </a:pPr>
            <a:r>
              <a:t>Institutionalize weekend promotional bundles for high-margin signature dishes.</a:t>
            </a:r>
            <a:br/>
            <a:br/>
            <a:r>
              <a:t>Package Banku &amp; Fish and Fufu into premium family/group bundles on Saturdays &amp; Sundays to push average spend past GH₵ 45.</a:t>
            </a: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362895" cy="2764859"/>
          </a:xfrm>
          <a:prstGeom prst="rect">
            <a:avLst/>
          </a:prstGeom>
          <a:noFill/>
        </p:spPr>
        <p:txBody>
          <a:bodyPr wrap="square">
            <a:spAutoFit/>
          </a:bodyPr>
          <a:lstStyle/>
          <a:p>
            <a:pPr>
              <a:defRPr sz="1200" b="1">
                <a:solidFill>
                  <a:srgbClr val="D97706"/>
                </a:solidFill>
              </a:defRPr>
            </a:pPr>
            <a:r>
              <a:rPr dirty="0"/>
              <a:t>PROJECTED BUSINESS IMPACT &amp; NEXT STEPS</a:t>
            </a:r>
          </a:p>
          <a:p>
            <a:pPr>
              <a:spcBef>
                <a:spcPts val="1000"/>
              </a:spcBef>
              <a:defRPr sz="2800" b="1">
                <a:solidFill>
                  <a:srgbClr val="FFFFFF"/>
                </a:solidFill>
              </a:defRPr>
            </a:pPr>
            <a:r>
              <a:rPr dirty="0"/>
              <a:t>Targeting 12% - 15% Top-Line Growth in 90 Days</a:t>
            </a:r>
          </a:p>
          <a:p>
            <a:pPr>
              <a:spcBef>
                <a:spcPts val="1400"/>
              </a:spcBef>
              <a:defRPr sz="1300">
                <a:solidFill>
                  <a:srgbClr val="E2E8F0"/>
                </a:solidFill>
              </a:defRPr>
            </a:pPr>
            <a:r>
              <a:rPr dirty="0"/>
              <a:t>• Revenue Impact: Elevating Monday revenue from GH₵ 4.4K to GH₵ 5.5K adds ~GH₵ 50,000+ in incremental annual revenue.</a:t>
            </a:r>
          </a:p>
          <a:p>
            <a:pPr>
              <a:spcBef>
                <a:spcPts val="1400"/>
              </a:spcBef>
              <a:defRPr sz="1300">
                <a:solidFill>
                  <a:srgbClr val="E2E8F0"/>
                </a:solidFill>
              </a:defRPr>
            </a:pPr>
            <a:r>
              <a:rPr dirty="0"/>
              <a:t>• Operational Impact: Weather-based prep eliminates Fufu stockouts on rainy days and reduces weekday food waste.</a:t>
            </a:r>
          </a:p>
          <a:p>
            <a:pPr>
              <a:spcBef>
                <a:spcPts val="1400"/>
              </a:spcBef>
              <a:defRPr sz="1300">
                <a:solidFill>
                  <a:srgbClr val="E2E8F0"/>
                </a:solidFill>
              </a:defRPr>
            </a:pPr>
            <a:r>
              <a:rPr dirty="0"/>
              <a:t>• Customer Loyalty: Structured promotions maintain satisfaction ratings above 4.65/5.0.</a:t>
            </a:r>
          </a:p>
          <a:p>
            <a:pPr>
              <a:spcBef>
                <a:spcPts val="4000"/>
              </a:spcBef>
              <a:defRPr sz="1800" b="1">
                <a:solidFill>
                  <a:srgbClr val="D97706"/>
                </a:solidFill>
              </a:defRPr>
            </a:pPr>
            <a:r>
              <a:rPr dirty="0"/>
              <a:t>Thank You</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000">
        <p15:prstTrans prst="curtains"/>
        <p:sndAc>
          <p:stSnd>
            <p:snd r:embed="rId2" name="applause.wav"/>
          </p:stSnd>
        </p:sndAc>
      </p:transition>
    </mc:Choice>
    <mc:Fallback>
      <p:transition spd="slow">
        <p:fade/>
        <p:sndAc>
          <p:stSnd>
            <p:snd r:embed="rId2" name="applause.wav"/>
          </p:stSnd>
        </p:sndAc>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TotalTime>
  <Words>931</Words>
  <Application>Microsoft Office PowerPoint</Application>
  <PresentationFormat>Widescreen</PresentationFormat>
  <Paragraphs>130</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Francisca Zigah</cp:lastModifiedBy>
  <cp:revision>3</cp:revision>
  <dcterms:created xsi:type="dcterms:W3CDTF">2013-01-27T09:14:16Z</dcterms:created>
  <dcterms:modified xsi:type="dcterms:W3CDTF">2026-07-21T18:10:33Z</dcterms:modified>
  <cp:category/>
</cp:coreProperties>
</file>